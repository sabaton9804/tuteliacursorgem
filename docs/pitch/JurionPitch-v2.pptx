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0488" y="475488"/>
            <a:ext cx="572414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02920"/>
            <a:ext cx="5669280" cy="3188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5400" b="1">
                <a:solidFill>
                  <a:srgbClr val="F0F4FF"/>
                </a:solidFill>
                <a:latin typeface="Calibri Light"/>
              </a:defRPr>
            </a:pPr>
            <a:r>
              <a:t>Jurion.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La Rama estaba en mil herramientas.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378ADD"/>
                </a:solidFill>
                <a:latin typeface="Calibri Light"/>
              </a:defRPr>
            </a:pPr>
            <a:r>
              <a:t>Ahora, un solo despacho digital.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899BB"/>
                </a:solidFill>
                <a:latin typeface="Calibri Light"/>
              </a:defRPr>
            </a:pPr>
            <a:r>
              <a:t>Outlook · SGDE · plazos · expediente · IA judicial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029200"/>
            <a:ext cx="5303520" cy="384048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023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78ADD"/>
                </a:solidFill>
                <a:latin typeface="Calibri Light"/>
              </a:defRPr>
            </a:pPr>
            <a:r>
              <a:t>PCSJA24-12243  ·  Ley 2213/2022  ·  Colombia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¿Cuántas ventanas abre un juzgado</a:t>
            </a:r>
            <a:br/>
            <a:r>
              <a:t>para un solo proceso?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Correo, SGDE, Word, Excel y términos en sistemas distintos.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063240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200400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Vencimientos invisibles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Un día de más puede significar nulidad o revictimización.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78808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315968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Correo sin procesar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Repartos y memorials que alguien debe clasificar a mano.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294376"/>
            <a:ext cx="5120640" cy="96012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5431536"/>
            <a:ext cx="4791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SGDE desconectado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Alfresco vs Word vs Outlook — nadie sincroniza.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886968"/>
            <a:ext cx="554126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914400"/>
            <a:ext cx="5486400" cy="30861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Jurion concentra todo el flujo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11002975" cy="61891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EL PRODUCTO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Resumen operativo del despacho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0136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8800"/>
            <a:ext cx="11002975" cy="61891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5989320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8899BB"/>
                </a:solidFill>
                <a:latin typeface="Calibri Light"/>
              </a:defRPr>
            </a:pPr>
            <a:r>
              <a:t>Semáforo de términos · pendientes de ingreso · actividad reciente en un solo tablero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CORREO JUDICIAL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Reparto y memorial: la IA sabe</a:t>
            </a:r>
            <a:br/>
            <a:r>
              <a:t>la diferencia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Bandeja M365 integrada. Analizar, clasificar y aprobar ingreso.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00400"/>
            <a:ext cx="4937760" cy="100584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4608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8ADD"/>
                </a:solidFill>
                <a:latin typeface="Calibri Light"/>
              </a:defRPr>
            </a:pPr>
            <a:r>
              <a:t>Reparto nuevo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Propone radicación, partes, piezas y CUI.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343400"/>
            <a:ext cx="4937760" cy="10058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480560"/>
            <a:ext cx="460857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Memorial existente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Vincula pieza al expediente ya abierto.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1888" y="749808"/>
            <a:ext cx="586130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rr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777240"/>
            <a:ext cx="5806440" cy="326612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718718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ba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7132320" cy="4011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244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CENTRO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749808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Tareas automáticas</a:t>
            </a:r>
            <a:br/>
            <a:r>
              <a:t>por 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148840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Informe, auto, fallo, SGDE y revisión — asignados al sustanciador correcto.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246120"/>
            <a:ext cx="35661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F0F4FF"/>
                </a:solidFill>
                <a:latin typeface="Calibri Light"/>
              </a:defRPr>
            </a:pPr>
            <a:r>
              <a:t>✦  Notificaciones en tiempo real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✦  Motor de etapas procesales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✦  Revisión juez con trazabilidad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612648"/>
            <a:ext cx="11057839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0080"/>
            <a:ext cx="11002975" cy="61891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BONDADES EN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Todo lo que el despacho necesita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557930" cy="123444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378ADD"/>
                </a:solidFill>
                <a:latin typeface="Calibri Light"/>
              </a:defRPr>
            </a:pPr>
            <a:r>
              <a:t>SGDE nativo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Crear, vincular y sincronizar piezas bidireccional.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6882" y="1965960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Documentos CSJ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InformeIngresoDespacho.pdf desde plantillas.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404" y="1965960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3996" y="2103120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Semáforo términos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EN TÉRMINO · URGENTE · VENCIDO.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Notificaciones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Asignación, revisión y etapas por rol.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6882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1474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Equipo y reparto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Sustanciador por turno y mis asignadas.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9404" y="3364992"/>
            <a:ext cx="3557930" cy="123444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3996" y="3502152"/>
            <a:ext cx="322874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Auditoría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8899BB"/>
                </a:solidFill>
                <a:latin typeface="Calibri Light"/>
              </a:defRPr>
            </a:pPr>
            <a:r>
              <a:t>Actuaciones e historial por usuario y hora.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POR QUÉ JURION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Hecho para la Rama,</a:t>
            </a:r>
            <a:br/>
            <a:r>
              <a:t>por quienes la conocen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4028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01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Operadores judiciales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Diseñado con jueces y equipos en activo.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24028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5000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02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Norma nativa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PCSJA24-12243 y Ley 2213 — no es un add-on.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6616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7588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03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Desde la trinchera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Cada pantalla responde a un dolor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566160"/>
            <a:ext cx="2606040" cy="114300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675888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378ADD"/>
                </a:solidFill>
                <a:latin typeface="Calibri Light"/>
              </a:defRPr>
            </a:pPr>
            <a:r>
              <a:t>04</a:t>
            </a:r>
          </a:p>
          <a:p>
            <a:pPr algn="l">
              <a:spcAft>
                <a:spcPts val="300"/>
              </a:spcAft>
              <a:defRPr sz="1200" b="1">
                <a:solidFill>
                  <a:srgbClr val="F0F4FF"/>
                </a:solidFill>
                <a:latin typeface="Calibri Light"/>
              </a:defRPr>
            </a:pPr>
            <a:r>
              <a:t>Memoria propia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Precedentes indexados gobernados por el juez.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61888" y="658368"/>
            <a:ext cx="586130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685800"/>
            <a:ext cx="5806440" cy="326612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ALINEACIÓN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Coherencia con el protocolo</a:t>
            </a:r>
            <a:br/>
            <a:r>
              <a:t>de la Rama Judicial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5029200" cy="438912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F0F4FF"/>
                </a:solidFill>
                <a:latin typeface="Calibri Light"/>
              </a:defRPr>
            </a:pPr>
            <a:r>
              <a:t>PDF conforme CENDOJ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Nombres TitleCase sin guiones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Cuadernos C01, C02 alineados SGDE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F0F4FF"/>
                </a:solidFill>
                <a:latin typeface="Calibri Light"/>
              </a:defRPr>
            </a:pPr>
            <a:r>
              <a:t>InformeIngresoDespacho.pdf</a:t>
            </a:r>
          </a:p>
          <a:p>
            <a:pPr algn="l">
              <a:spcAft>
                <a:spcPts val="1200"/>
              </a:spcAft>
              <a:defRPr sz="1600" b="0">
                <a:solidFill>
                  <a:srgbClr val="378ADD"/>
                </a:solidFill>
                <a:latin typeface="Calibri Light"/>
              </a:defRPr>
            </a:pPr>
            <a:r>
              <a:t>Ley 2213 · Decreto 2591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F0F4FF"/>
                </a:solidFill>
                <a:latin typeface="Calibri Light"/>
              </a:defRPr>
            </a:pPr>
            <a:r>
              <a:t>No es otra app más.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8899BB"/>
                </a:solidFill>
                <a:latin typeface="Calibri Light"/>
              </a:defRPr>
            </a:pPr>
            <a:r>
              <a:t>Implementa las mismas reglas que la Rama promueve para interoperabilidad, conservación y expediente digital.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49808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Transformación digital 2026–2028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840480"/>
            <a:ext cx="11002975" cy="3657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66641" y="3703320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025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22C55E"/>
                </a:solidFill>
                <a:latin typeface="Calibri Light"/>
              </a:defRPr>
            </a:pPr>
            <a:r>
              <a:t>Q2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Beta tutelas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Correo + IA + SGDE</a:t>
            </a:r>
          </a:p>
        </p:txBody>
      </p:sp>
      <p:sp>
        <p:nvSpPr>
          <p:cNvPr id="10" name="Oval 9"/>
          <p:cNvSpPr/>
          <p:nvPr/>
        </p:nvSpPr>
        <p:spPr>
          <a:xfrm>
            <a:off x="3767236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852" y="4160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Q3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Civil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Citación asistida</a:t>
            </a:r>
          </a:p>
        </p:txBody>
      </p:sp>
      <p:sp>
        <p:nvSpPr>
          <p:cNvPr id="12" name="Oval 11"/>
          <p:cNvSpPr/>
          <p:nvPr/>
        </p:nvSpPr>
        <p:spPr>
          <a:xfrm>
            <a:off x="5967831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Q4 2026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Todas las jurisdicciones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Penal · laboral · familia</a:t>
            </a:r>
          </a:p>
        </p:txBody>
      </p:sp>
      <p:sp>
        <p:nvSpPr>
          <p:cNvPr id="14" name="Oval 13"/>
          <p:cNvSpPr/>
          <p:nvPr/>
        </p:nvSpPr>
        <p:spPr>
          <a:xfrm>
            <a:off x="8168426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2042" y="41605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2027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Expansión nacional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Costa a costa</a:t>
            </a:r>
          </a:p>
        </p:txBody>
      </p:sp>
      <p:sp>
        <p:nvSpPr>
          <p:cNvPr id="16" name="Oval 15"/>
          <p:cNvSpPr/>
          <p:nvPr/>
        </p:nvSpPr>
        <p:spPr>
          <a:xfrm>
            <a:off x="10369021" y="3703320"/>
            <a:ext cx="256032" cy="256032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637" y="21945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378ADD"/>
                </a:solidFill>
                <a:latin typeface="Calibri Light"/>
              </a:defRPr>
            </a:pPr>
            <a:r>
              <a:t>2028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F4FF"/>
                </a:solidFill>
                <a:latin typeface="Calibri Light"/>
              </a:defRPr>
            </a:pPr>
            <a:r>
              <a:t>Rama unificada</a:t>
            </a:r>
          </a:p>
          <a:p>
            <a:pPr algn="ctr">
              <a:spcAft>
                <a:spcPts val="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Una arquitectura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89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78ADD"/>
                </a:solidFill>
                <a:latin typeface="Calibri Light"/>
              </a:defRPr>
            </a:pPr>
            <a:r>
              <a:t>IMPACTO 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1100297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0F4FF"/>
                </a:solidFill>
                <a:latin typeface="Calibri Light"/>
              </a:defRPr>
            </a:pPr>
            <a:r>
              <a:t>Cuánto tiempo devuelve Jurion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8899BB"/>
                </a:solidFill>
                <a:latin typeface="Calibri Light"/>
              </a:defRPr>
            </a:pPr>
            <a:r>
              <a:t>Estimación pre-piloto · reparto y memorial ~10 min hoy; el mayor valor está en precedentes, resúmenes IA y términos.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3594506" cy="141732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332018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8ADD"/>
                </a:solidFill>
                <a:latin typeface="Calibri Light"/>
              </a:defRPr>
            </a:pPr>
            <a:r>
              <a:t>Precedentes + similitud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Fallos del despacho indexados. Búsqueda semántica con % similitud.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22C55E"/>
                </a:solidFill>
                <a:latin typeface="Calibri Light"/>
              </a:defRPr>
            </a:pPr>
            <a:r>
              <a:t>~30–90 min → 3–10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8594" y="2148840"/>
            <a:ext cx="3594506" cy="141732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5754" y="2267712"/>
            <a:ext cx="332018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8ADD"/>
                </a:solidFill>
                <a:latin typeface="Calibri Light"/>
              </a:defRPr>
            </a:pPr>
            <a:r>
              <a:t>Lectura rápida con IA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Resumen por pieza: propósito, puntos clave, fechas — vistazo general del expediente.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22C55E"/>
                </a:solidFill>
                <a:latin typeface="Calibri Light"/>
              </a:defRPr>
            </a:pPr>
            <a:r>
              <a:t>~15–45 min → 2–5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2828" y="2148840"/>
            <a:ext cx="3594506" cy="141732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9988" y="2267712"/>
            <a:ext cx="332018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378ADD"/>
                </a:solidFill>
                <a:latin typeface="Calibri Light"/>
              </a:defRPr>
            </a:pPr>
            <a:r>
              <a:t>Términos automáticos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Tablero vigila EN TÉRMINO · URGENTE · VENCIDO sin Excel ni revisión constante.</a:t>
            </a:r>
          </a:p>
          <a:p>
            <a:pPr algn="l">
              <a:spcAft>
                <a:spcPts val="0"/>
              </a:spcAft>
              <a:defRPr sz="1100" b="1">
                <a:solidFill>
                  <a:srgbClr val="22C55E"/>
                </a:solidFill>
                <a:latin typeface="Calibri Light"/>
              </a:defRPr>
            </a:pPr>
            <a:r>
              <a:t>Elimina vigilancia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703320"/>
            <a:ext cx="288950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758184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Actividad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703320"/>
            <a:ext cx="133502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3758184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Sin Jurion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703320"/>
            <a:ext cx="133502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3758184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Con Jurion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3438144" cy="347472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758184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1">
                <a:solidFill>
                  <a:srgbClr val="378ADD"/>
                </a:solidFill>
                <a:latin typeface="Calibri Light"/>
              </a:defRPr>
            </a:pPr>
            <a:r>
              <a:t>Ahorro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087368"/>
            <a:ext cx="2889504" cy="420624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160520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Reparto nuevo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4087368"/>
            <a:ext cx="133502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4160520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087368"/>
            <a:ext cx="133502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4160520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~3–5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087368"/>
            <a:ext cx="343814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160520"/>
            <a:ext cx="3328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2C55E"/>
                </a:solidFill>
                <a:latin typeface="Calibri Light"/>
              </a:defRPr>
            </a:pPr>
            <a:r>
              <a:t>~5–7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562856"/>
            <a:ext cx="2889504" cy="420624"/>
          </a:xfrm>
          <a:prstGeom prst="rect">
            <a:avLst/>
          </a:prstGeom>
          <a:solidFill>
            <a:srgbClr val="050D1A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636008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Memorial / pieza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562856"/>
            <a:ext cx="133502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4636008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4562856"/>
            <a:ext cx="133502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65192" y="4636008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~2–4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562856"/>
            <a:ext cx="343814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4636008"/>
            <a:ext cx="3328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2C55E"/>
                </a:solidFill>
                <a:latin typeface="Calibri Light"/>
              </a:defRPr>
            </a:pPr>
            <a:r>
              <a:t>~6–8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038344"/>
            <a:ext cx="2889504" cy="420624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5111496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Sync SGDE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5038344"/>
            <a:ext cx="133502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93592" y="5111496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~10–15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92040" y="5038344"/>
            <a:ext cx="133502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65192" y="5111496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~4–6 min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038344"/>
            <a:ext cx="3438144" cy="420624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5111496"/>
            <a:ext cx="3328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22C55E"/>
                </a:solidFill>
                <a:latin typeface="Calibri Light"/>
              </a:defRPr>
            </a:pPr>
            <a:r>
              <a:t>~5–9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513832"/>
            <a:ext cx="2889504" cy="420624"/>
          </a:xfrm>
          <a:prstGeom prst="rect">
            <a:avLst/>
          </a:prstGeom>
          <a:solidFill>
            <a:srgbClr val="050D1A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586984"/>
            <a:ext cx="277977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0F4FF"/>
                </a:solidFill>
                <a:latin typeface="Calibri Light"/>
              </a:defRPr>
            </a:pPr>
            <a:r>
              <a:t>Coordinación por rol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5513832"/>
            <a:ext cx="133502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5586984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~5–10 min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5513832"/>
            <a:ext cx="133502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65192" y="5586984"/>
            <a:ext cx="12252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F0F4FF"/>
                </a:solidFill>
                <a:latin typeface="Calibri Light"/>
              </a:defRPr>
            </a:pPr>
            <a:r>
              <a:t>Automático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513832"/>
            <a:ext cx="3438144" cy="420624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5586984"/>
            <a:ext cx="33284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8899BB"/>
                </a:solidFill>
                <a:latin typeface="Calibri Light"/>
              </a:defRPr>
            </a:pPr>
            <a:r>
              <a:t>Notificaciones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144768"/>
            <a:ext cx="110029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8899BB"/>
                </a:solidFill>
                <a:latin typeface="Calibri Light"/>
              </a:defRPr>
            </a:pPr>
            <a:r>
              <a:t>Proyección mensual despacho activo: ~26–30 h (~11 h de precedentes + lectura rápida IA) · sujeta a medición en piloto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731520"/>
            <a:ext cx="4114800" cy="4114800"/>
          </a:xfrm>
          <a:prstGeom prst="ellipse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566928"/>
            <a:ext cx="6912864" cy="3840480"/>
          </a:xfrm>
          <a:prstGeom prst="rect">
            <a:avLst/>
          </a:prstGeom>
          <a:solidFill>
            <a:srgbClr val="0A182E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94360"/>
            <a:ext cx="6858000" cy="38576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26679" y="1097280"/>
            <a:ext cx="3886200" cy="4754880"/>
          </a:xfrm>
          <a:prstGeom prst="rect">
            <a:avLst/>
          </a:prstGeom>
          <a:solidFill>
            <a:srgbClr val="042C53"/>
          </a:solidFill>
          <a:ln w="12700">
            <a:solidFill>
              <a:srgbClr val="378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82880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0F4FF"/>
                </a:solidFill>
                <a:latin typeface="Calibri Light"/>
              </a:defRPr>
            </a:pPr>
            <a:r>
              <a:t>Actualicemos la justicia juntos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8899BB"/>
                </a:solidFill>
                <a:latin typeface="Calibri Light"/>
              </a:defRPr>
            </a:pPr>
            <a:r>
              <a:t>La Rama merece herramientas que hablen el mismo idioma.</a:t>
            </a:r>
          </a:p>
          <a:p>
            <a:pPr algn="l">
              <a:spcAft>
                <a:spcPts val="1200"/>
              </a:spcAft>
              <a:defRPr sz="1300" b="1">
                <a:solidFill>
                  <a:srgbClr val="378ADD"/>
                </a:solidFill>
                <a:latin typeface="Calibri Light"/>
              </a:defRPr>
            </a:pPr>
            <a:r>
              <a:t>Correo · expediente · plazos · SGDE · IA judicial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899BB"/>
                </a:solidFill>
                <a:latin typeface="Calibri Light"/>
              </a:defRPr>
            </a:pPr>
            <a:r>
              <a:t>Hecho con quienes viven el despacho cada día.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1002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8899BB"/>
                </a:solidFill>
                <a:latin typeface="Calibri Light"/>
              </a:defRPr>
            </a:pPr>
            <a:r>
              <a:t>Jurion</a:t>
            </a:r>
          </a:p>
          <a:p>
            <a:pPr algn="r">
              <a:defRPr sz="1000">
                <a:solidFill>
                  <a:srgbClr val="8899BB"/>
                </a:solidFill>
                <a:latin typeface="Calibri Light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