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0488" y="475488"/>
            <a:ext cx="572414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02920"/>
            <a:ext cx="5669280" cy="3188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5400" b="1">
                <a:solidFill>
                  <a:srgbClr val="F0F4FF"/>
                </a:solidFill>
                <a:latin typeface="Calibri Light"/>
              </a:defRPr>
            </a:pPr>
            <a:r>
              <a:t>Jurion.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La Rama estaba en mil herramientas.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378ADD"/>
                </a:solidFill>
                <a:latin typeface="Calibri Light"/>
              </a:defRPr>
            </a:pPr>
            <a:r>
              <a:t>Ahora, un solo despacho digital.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899BB"/>
                </a:solidFill>
                <a:latin typeface="Calibri Light"/>
              </a:defRPr>
            </a:pPr>
            <a:r>
              <a:t>Outlook · SGDE · plazos · expediente · IA judicial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029200"/>
            <a:ext cx="5303520" cy="384048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023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78ADD"/>
                </a:solidFill>
                <a:latin typeface="Calibri Light"/>
              </a:defRPr>
            </a:pPr>
            <a:r>
              <a:t>PCSJA24-12243  ·  Ley 2213/2022  ·  Colombia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¿Cuántas ventanas abre un juzgado</a:t>
            </a:r>
            <a:br/>
            <a:r>
              <a:t>para un solo proceso?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Correo, SGDE, Word, Excel y términos en sistemas distintos.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063240"/>
            <a:ext cx="5120640" cy="9601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200400"/>
            <a:ext cx="4791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Vencimientos invisibles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Un día de más puede significar nulidad o revictimización.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78808"/>
            <a:ext cx="5120640" cy="9601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315968"/>
            <a:ext cx="4791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Correo sin procesar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Repartos y memorials que alguien debe clasificar a mano.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294376"/>
            <a:ext cx="5120640" cy="9601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5431536"/>
            <a:ext cx="4791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SGDE desconectado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Alfresco vs Word vs Outlook — nadie sincroniza.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886968"/>
            <a:ext cx="554126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914400"/>
            <a:ext cx="5486400" cy="30861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Jurion concentra todo el flujo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11002975" cy="61891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EL PRODUCTO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Resumen operativo del despacho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01368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11002975" cy="6189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899BB"/>
                </a:solidFill>
                <a:latin typeface="Calibri Light"/>
              </a:defRPr>
            </a:pPr>
            <a:r>
              <a:t>Semáforo de términos · pendientes de ingreso · actividad reciente en un solo tablero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CORREO JUDICIAL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Recibir, enviar y radicar</a:t>
            </a:r>
            <a:br/>
            <a:r>
              <a:t>desde Outlook M365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Bandeja integrada: analizar con IA, aprobar ingreso y enviar oficios a las partes.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00400"/>
            <a:ext cx="4937760" cy="100584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337560"/>
            <a:ext cx="46085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8ADD"/>
                </a:solidFill>
                <a:latin typeface="Calibri Light"/>
              </a:defRPr>
            </a:pPr>
            <a:r>
              <a:t>Correo entrante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Reparto, memorial, respuesta — clasificación IA y radicación .eml.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343400"/>
            <a:ext cx="4937760" cy="10058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480560"/>
            <a:ext cx="46085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Correo saliente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Envío de oficios y comunicaciones a partes sin salir de Jurion.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1888" y="749808"/>
            <a:ext cx="586130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r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777240"/>
            <a:ext cx="5806440" cy="326612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FLUJO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Ingresa el reparto, sale el oficio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Plantillas con datos del expediente · envío Outlook M365 · registro de notificación · trazabilidad.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47087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11002975" cy="618917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806440"/>
            <a:ext cx="2668447" cy="5029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897880"/>
            <a:ext cx="2485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Correo reparto → IA clasifica → humano aprueba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2535" y="5806440"/>
            <a:ext cx="2668447" cy="5029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3975" y="5897880"/>
            <a:ext cx="2485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Expediente + documentos desde plantillas CSJ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0711" y="5806440"/>
            <a:ext cx="2668447" cy="5029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2151" y="5897880"/>
            <a:ext cx="2485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Auto o fallo firmado → tarea a secretaría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8887" y="5806440"/>
            <a:ext cx="2668447" cy="502920"/>
          </a:xfrm>
          <a:prstGeom prst="rect">
            <a:avLst/>
          </a:prstGeom>
          <a:solidFill>
            <a:srgbClr val="0A18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0327" y="5897880"/>
            <a:ext cx="2485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22C55E"/>
                </a:solidFill>
                <a:latin typeface="Calibri Light"/>
              </a:defRPr>
            </a:pPr>
            <a:r>
              <a:t>Oficio generado → enviado por correo → registrado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718718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244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CENTRO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749808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Tareas automáticas</a:t>
            </a:r>
            <a:br/>
            <a:r>
              <a:t>por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1488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Informe, auto, fallo, SGDE y revisión — asignados al sustanciador correcto.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246120"/>
            <a:ext cx="3566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F0F4FF"/>
                </a:solidFill>
                <a:latin typeface="Calibri Light"/>
              </a:defRPr>
            </a:pPr>
            <a:r>
              <a:t>✦  Notificaciones en tiempo real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8899BB"/>
                </a:solidFill>
                <a:latin typeface="Calibri Light"/>
              </a:defRPr>
            </a:pPr>
            <a:r>
              <a:t>✦  Motor de etapas procesales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8899BB"/>
                </a:solidFill>
                <a:latin typeface="Calibri Light"/>
              </a:defRPr>
            </a:pPr>
            <a:r>
              <a:t>✦  Revisión juez con trazabilidad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12648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0080"/>
            <a:ext cx="11002975" cy="61891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BONDADES EN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Todo lo que el despacho necesita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557930" cy="123444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8ADD"/>
                </a:solidFill>
                <a:latin typeface="Calibri Light"/>
              </a:defRPr>
            </a:pPr>
            <a:r>
              <a:t>Oficios y notificaciones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Plantillas + tareas a secretaría tras firma del auto o fallo.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6882" y="1965960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1474" y="2103120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Correo entrante y saliente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Outlook M365: recibir, enviar oficios y radicar .eml.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404" y="1965960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996" y="2103120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SGDE nativo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Crear, vincular y sincronizar piezas bidireccional.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64992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502152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Documentos CSJ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Informe, auto admisorio y Word desde plantillas del despacho.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6882" y="3364992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1474" y="3502152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Semáforo términos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EN TÉRMINO · URGENTE · VENCIDO.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3364992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3996" y="3502152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Auditoría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Actuaciones, envíos y cambios por usuario y hora.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POR QUÉ JURION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Hecho para la Rama,</a:t>
            </a:r>
            <a:br/>
            <a:r>
              <a:t>por quienes la conocen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4028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01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Operadores judiciales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Diseñado con jueces y equipos en activo.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4028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500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02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Norma nativa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PCSJA24-12243 y Ley 2213 — no es un add-on.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6616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7588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03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Desde la trinchera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Cada pantalla responde a un dolor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56616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67588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04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Memoria propia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Precedentes indexados gobernados por el juez.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658368"/>
            <a:ext cx="586130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685800"/>
            <a:ext cx="5806440" cy="326612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ALINEACIÓN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Coherencia con el protocolo</a:t>
            </a:r>
            <a:br/>
            <a:r>
              <a:t>de la Rama Judicial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5029200" cy="438912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F0F4FF"/>
                </a:solidFill>
                <a:latin typeface="Calibri Light"/>
              </a:defRPr>
            </a:pPr>
            <a:r>
              <a:t>PDF conforme CENDOJ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0F4FF"/>
                </a:solidFill>
                <a:latin typeface="Calibri Light"/>
              </a:defRPr>
            </a:pPr>
            <a:r>
              <a:t>Nombres TitleCase sin guiones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0F4FF"/>
                </a:solidFill>
                <a:latin typeface="Calibri Light"/>
              </a:defRPr>
            </a:pPr>
            <a:r>
              <a:t>Cuadernos C01, C02 alineados SGDE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0F4FF"/>
                </a:solidFill>
                <a:latin typeface="Calibri Light"/>
              </a:defRPr>
            </a:pPr>
            <a:r>
              <a:t>InformeIngresoDespacho.pdf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378ADD"/>
                </a:solidFill>
                <a:latin typeface="Calibri Light"/>
              </a:defRPr>
            </a:pPr>
            <a:r>
              <a:t>Ley 2213 · Decreto 2591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0F4FF"/>
                </a:solidFill>
                <a:latin typeface="Calibri Light"/>
              </a:defRPr>
            </a:pPr>
            <a:r>
              <a:t>No es otra app más.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8899BB"/>
                </a:solidFill>
                <a:latin typeface="Calibri Light"/>
              </a:defRPr>
            </a:pPr>
            <a:r>
              <a:t>Implementa las mismas reglas que la Rama promueve para interoperabilidad, conservación y expediente digital.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Transformación digital 2026–2028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40480"/>
            <a:ext cx="11002975" cy="3657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6641" y="3703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57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2C55E"/>
                </a:solidFill>
                <a:latin typeface="Calibri Light"/>
              </a:defRPr>
            </a:pPr>
            <a:r>
              <a:t>Q2 2026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Beta tutelas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Correo + IA + SGDE</a:t>
            </a:r>
          </a:p>
        </p:txBody>
      </p:sp>
      <p:sp>
        <p:nvSpPr>
          <p:cNvPr id="10" name="Oval 9"/>
          <p:cNvSpPr/>
          <p:nvPr/>
        </p:nvSpPr>
        <p:spPr>
          <a:xfrm>
            <a:off x="3767236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852" y="4160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Q3 2026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Civil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Citación asistida</a:t>
            </a:r>
          </a:p>
        </p:txBody>
      </p:sp>
      <p:sp>
        <p:nvSpPr>
          <p:cNvPr id="12" name="Oval 11"/>
          <p:cNvSpPr/>
          <p:nvPr/>
        </p:nvSpPr>
        <p:spPr>
          <a:xfrm>
            <a:off x="5967831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Q4 2026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Todas las jurisdicciones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Penal · laboral · familia</a:t>
            </a:r>
          </a:p>
        </p:txBody>
      </p:sp>
      <p:sp>
        <p:nvSpPr>
          <p:cNvPr id="14" name="Oval 13"/>
          <p:cNvSpPr/>
          <p:nvPr/>
        </p:nvSpPr>
        <p:spPr>
          <a:xfrm>
            <a:off x="8168426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2042" y="4160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2027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Expansión nacional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Costa a costa</a:t>
            </a:r>
          </a:p>
        </p:txBody>
      </p:sp>
      <p:sp>
        <p:nvSpPr>
          <p:cNvPr id="16" name="Oval 15"/>
          <p:cNvSpPr/>
          <p:nvPr/>
        </p:nvSpPr>
        <p:spPr>
          <a:xfrm>
            <a:off x="10369021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637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2028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Rama unificada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Una arquitectura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IMPACTO OPERATIVO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Lo más importante para el despacho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Gobernanza y estadística primero; después IA (precedentes, resúmenes) y términos automáticos.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437479" cy="1234440"/>
          </a:xfrm>
          <a:prstGeom prst="rect">
            <a:avLst/>
          </a:prstGeom>
          <a:solidFill>
            <a:srgbClr val="042C5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1631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2C55E"/>
                </a:solidFill>
                <a:latin typeface="Calibri Light"/>
              </a:defRPr>
            </a:pPr>
            <a:r>
              <a:t>Trazabilidad y auditoría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Actuaciones + historial: quién cambió qué, cuándo y en qué pieza. Revisiones Word registradas.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378ADD"/>
                </a:solidFill>
                <a:latin typeface="Calibri Light"/>
              </a:defRPr>
            </a:pPr>
            <a:r>
              <a:t>Rendir cuentas con registro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855" y="2011680"/>
            <a:ext cx="5437479" cy="1234440"/>
          </a:xfrm>
          <a:prstGeom prst="rect">
            <a:avLst/>
          </a:prstGeom>
          <a:solidFill>
            <a:srgbClr val="042C5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7015" y="2121408"/>
            <a:ext cx="51631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2C55E"/>
                </a:solidFill>
                <a:latin typeface="Calibri Light"/>
              </a:defRPr>
            </a:pPr>
            <a:r>
              <a:t>Estadística SIERJU automática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Movimiento de Tutelas por periodo: derecho tutelado, ingresos y decisiones sin rellenar Excel a mano.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378ADD"/>
                </a:solidFill>
                <a:latin typeface="Calibri Light"/>
              </a:defRPr>
            </a:pPr>
            <a:r>
              <a:t>Cierre mensual en minutos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401568"/>
            <a:ext cx="2668447" cy="8686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2485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0F4FF"/>
                </a:solidFill>
                <a:latin typeface="Calibri Light"/>
              </a:defRPr>
            </a:pPr>
            <a:r>
              <a:t>Precedentes + similitud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22C55E"/>
                </a:solidFill>
                <a:latin typeface="Calibri Light"/>
              </a:defRPr>
            </a:pPr>
            <a:r>
              <a:t>~30–90 min → 3–10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2535" y="3401568"/>
            <a:ext cx="2668447" cy="8686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3975" y="3493008"/>
            <a:ext cx="2485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0F4FF"/>
                </a:solidFill>
                <a:latin typeface="Calibri Light"/>
              </a:defRPr>
            </a:pPr>
            <a:r>
              <a:t>Lectura rápida IA / doc.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22C55E"/>
                </a:solidFill>
                <a:latin typeface="Calibri Light"/>
              </a:defRPr>
            </a:pPr>
            <a:r>
              <a:t>~15–45 min → 2–5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3401568"/>
            <a:ext cx="2668447" cy="8686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2151" y="3493008"/>
            <a:ext cx="2485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0F4FF"/>
                </a:solidFill>
                <a:latin typeface="Calibri Light"/>
              </a:defRPr>
            </a:pPr>
            <a:r>
              <a:t>Oficios + envío correo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22C55E"/>
                </a:solidFill>
                <a:latin typeface="Calibri Light"/>
              </a:defRPr>
            </a:pPr>
            <a:r>
              <a:t>Plantilla → Outlook → registro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8887" y="3401568"/>
            <a:ext cx="2668447" cy="8686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0327" y="3493008"/>
            <a:ext cx="2485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0F4FF"/>
                </a:solidFill>
                <a:latin typeface="Calibri Light"/>
              </a:defRPr>
            </a:pPr>
            <a:r>
              <a:t>Términos automáticos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22C55E"/>
                </a:solidFill>
                <a:latin typeface="Calibri Light"/>
              </a:defRPr>
            </a:pPr>
            <a:r>
              <a:t>Vigilancia 24/7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434840"/>
            <a:ext cx="2889504" cy="310896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480560"/>
            <a:ext cx="2779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Actividad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434840"/>
            <a:ext cx="1335024" cy="310896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4480560"/>
            <a:ext cx="1225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Sin Jurion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4434840"/>
            <a:ext cx="1335024" cy="310896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5192" y="4480560"/>
            <a:ext cx="1225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Con Jurion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34840"/>
            <a:ext cx="3438144" cy="310896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480560"/>
            <a:ext cx="33284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Ahorro / valor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64024"/>
            <a:ext cx="288950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818888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Reparto nuevo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764024"/>
            <a:ext cx="133502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481888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~10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4764024"/>
            <a:ext cx="133502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65192" y="481888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~3–5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764024"/>
            <a:ext cx="343814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818888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8899BB"/>
                </a:solidFill>
                <a:latin typeface="Calibri Light"/>
              </a:defRPr>
            </a:pPr>
            <a:r>
              <a:t>~5–7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148072"/>
            <a:ext cx="2889504" cy="347472"/>
          </a:xfrm>
          <a:prstGeom prst="rect">
            <a:avLst/>
          </a:prstGeom>
          <a:solidFill>
            <a:srgbClr val="050D1A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5202936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Memorial / pieza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148072"/>
            <a:ext cx="1335024" cy="347472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5202936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~10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5148072"/>
            <a:ext cx="1335024" cy="347472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65192" y="5202936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~2–4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148072"/>
            <a:ext cx="3438144" cy="347472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5202936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8899BB"/>
                </a:solidFill>
                <a:latin typeface="Calibri Light"/>
              </a:defRPr>
            </a:pPr>
            <a:r>
              <a:t>~6–8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532120"/>
            <a:ext cx="288950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5586984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Oficios + envío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40" y="5532120"/>
            <a:ext cx="133502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3592" y="5586984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Word + Outlook aparte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5532120"/>
            <a:ext cx="133502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5192" y="5586984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En Jurion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532120"/>
            <a:ext cx="343814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5586984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8899BB"/>
                </a:solidFill>
                <a:latin typeface="Calibri Light"/>
              </a:defRPr>
            </a:pPr>
            <a:r>
              <a:t>Plantilla → correo → registro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5916168"/>
            <a:ext cx="2889504" cy="347472"/>
          </a:xfrm>
          <a:prstGeom prst="rect">
            <a:avLst/>
          </a:prstGeom>
          <a:solidFill>
            <a:srgbClr val="050D1A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5971032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Sync SGDE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40" y="5916168"/>
            <a:ext cx="1335024" cy="347472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93592" y="5971032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~10–15 min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92040" y="5916168"/>
            <a:ext cx="1335024" cy="347472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65192" y="5971032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~4–6 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5916168"/>
            <a:ext cx="3438144" cy="347472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36792" y="5971032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22C55E"/>
                </a:solidFill>
                <a:latin typeface="Calibri Light"/>
              </a:defRPr>
            </a:pPr>
            <a:r>
              <a:t>~5–9 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300216"/>
            <a:ext cx="288950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" y="6355080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Cierre SIERJU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20440" y="6300216"/>
            <a:ext cx="133502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93592" y="6355080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Horas en Excel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92040" y="6300216"/>
            <a:ext cx="133502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65192" y="6355080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Automático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6300216"/>
            <a:ext cx="3438144" cy="347472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36792" y="6355080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22C55E"/>
                </a:solidFill>
                <a:latin typeface="Calibri Light"/>
              </a:defRPr>
            </a:pPr>
            <a:r>
              <a:t>Desde expediente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446520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Estimación pre-piloto · trazabilidad y SIERJU son valor institucional; cifras de tiempo sujetas a medición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566928"/>
            <a:ext cx="691286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6858000" cy="38576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26679" y="1097280"/>
            <a:ext cx="3886200" cy="475488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0F4FF"/>
                </a:solidFill>
                <a:latin typeface="Calibri Light"/>
              </a:defRPr>
            </a:pPr>
            <a:r>
              <a:t>Actualicemos la justicia juntos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8899BB"/>
                </a:solidFill>
                <a:latin typeface="Calibri Light"/>
              </a:defRPr>
            </a:pPr>
            <a:r>
              <a:t>La Rama merece herramientas que hablen el mismo idioma.</a:t>
            </a:r>
          </a:p>
          <a:p>
            <a:pPr algn="l">
              <a:spcAft>
                <a:spcPts val="1200"/>
              </a:spcAft>
              <a:defRPr sz="1300" b="1">
                <a:solidFill>
                  <a:srgbClr val="378ADD"/>
                </a:solidFill>
                <a:latin typeface="Calibri Light"/>
              </a:defRPr>
            </a:pPr>
            <a:r>
              <a:t>Correo · expediente · plazos · SGDE · IA judicial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899BB"/>
                </a:solidFill>
                <a:latin typeface="Calibri Light"/>
              </a:defRPr>
            </a:pPr>
            <a:r>
              <a:t>Hecho con quienes viven el despacho cada día.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